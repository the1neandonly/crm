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</p:sldIdLst>
  <p:sldSz cx="10287000" cy="1285875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Tagline — edit the text boxes; the background is a picture. Fonts: install Montserrat, Inter, Cairo from /fonts.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Services — edit the text boxes; the background is a picture. Fonts: install Montserrat, Inter, Cairo from /fonts.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Announcement — edit the text boxes; the background is a picture. Fonts: install Montserrat, Inter, Cairo from /fonts.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Testimonial — edit the text boxes; the background is a picture. Fonts: install Montserrat, Inter, Cairo from /fonts.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Result — edit the text boxes; the background is a picture. Fonts: install Montserrat, Inter, Cairo from /fonts.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Hiring — edit the text boxes; the background is a picture. Fonts: install Montserrat, Inter, Cairo from /fonts.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Event — edit the text boxes; the background is a picture. Fonts: install Montserrat, Inter, Cairo from /fonts.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Darija — edit the text boxes; the background is a picture. Fonts: install Montserrat, Inter, Cairo from /fonts.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Greeting — edit the text boxes; the background is a picture. Fonts: install Montserrat, Inter, Cairo from /fonts.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Portfolio — edit the text boxes; the background is a picture. Fonts: install Montserrat, Inter, Cairo from /fonts.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Relationship Id="rId3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 (art)" descr="instagram-posts-01-taglin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0287000" cy="1285875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838200" y="4000500"/>
            <a:ext cx="8534400" cy="3210817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ts val="12642"/>
              </a:lnSpc>
            </a:pPr>
            <a:r>
              <a:rPr b="1" sz="12900" spc="-387">
                <a:solidFill>
                  <a:srgbClr val="FFFFFF"/>
                </a:solidFill>
                <a:latin typeface="Montserrat"/>
              </a:rPr>
              <a:t>Become</a:t>
            </a:r>
          </a:p>
          <a:p>
            <a:pPr algn="l">
              <a:lnSpc>
                <a:spcPts val="12642"/>
              </a:lnSpc>
            </a:pPr>
            <a:r>
              <a:rPr b="1" sz="12900" spc="-387">
                <a:solidFill>
                  <a:srgbClr val="4AA3F0"/>
                </a:solidFill>
                <a:latin typeface="Montserrat"/>
              </a:rPr>
              <a:t>the one.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38200" y="7620000"/>
            <a:ext cx="6400800" cy="46955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ts val="3697"/>
              </a:lnSpc>
            </a:pPr>
            <a:r>
              <a:rPr b="0" sz="2550">
                <a:solidFill>
                  <a:srgbClr val="FFFFFF"/>
                </a:solidFill>
                <a:latin typeface="Inter Medium"/>
              </a:rPr>
              <a:t>Devenez la référence.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38200" y="11620500"/>
            <a:ext cx="5334000" cy="2286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b="1" sz="1500" spc="390">
                <a:solidFill>
                  <a:srgbClr val="FFFFFF"/>
                </a:solidFill>
                <a:latin typeface="Inter"/>
              </a:rPr>
              <a:t>ALGÉRIE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 (art)" descr="instagram-posts-02-servic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0287000" cy="1285875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266944" y="1123950"/>
            <a:ext cx="4181856" cy="24765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r"/>
            <a:r>
              <a:rPr b="1" sz="1650" spc="429">
                <a:solidFill>
                  <a:srgbClr val="4AA3F0"/>
                </a:solidFill>
                <a:latin typeface="Inter"/>
              </a:rPr>
              <a:t>NOS SERVICES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657350" y="3143250"/>
            <a:ext cx="8747760" cy="466725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ts val="3675"/>
              </a:lnSpc>
            </a:pPr>
            <a:r>
              <a:rPr b="1" sz="3750" spc="-56">
                <a:solidFill>
                  <a:srgbClr val="FFFFFF"/>
                </a:solidFill>
                <a:latin typeface="Montserrat"/>
              </a:rPr>
              <a:t>Stratégie de marque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657350" y="4267200"/>
            <a:ext cx="8747760" cy="466725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ts val="3675"/>
              </a:lnSpc>
            </a:pPr>
            <a:r>
              <a:rPr b="1" sz="3750" spc="-56">
                <a:solidFill>
                  <a:srgbClr val="FFFFFF"/>
                </a:solidFill>
                <a:latin typeface="Montserrat"/>
              </a:rPr>
              <a:t>Identité visuelle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657350" y="5391150"/>
            <a:ext cx="8747760" cy="466725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ts val="3675"/>
              </a:lnSpc>
            </a:pPr>
            <a:r>
              <a:rPr b="1" sz="3750" spc="-56">
                <a:solidFill>
                  <a:srgbClr val="FFFFFF"/>
                </a:solidFill>
                <a:latin typeface="Montserrat"/>
              </a:rPr>
              <a:t>Social media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657350" y="6515100"/>
            <a:ext cx="8747760" cy="466725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ts val="3675"/>
              </a:lnSpc>
            </a:pPr>
            <a:r>
              <a:rPr b="1" sz="3750" spc="-56">
                <a:solidFill>
                  <a:srgbClr val="FFFFFF"/>
                </a:solidFill>
                <a:latin typeface="Montserrat"/>
              </a:rPr>
              <a:t>Publicité digitale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57350" y="7639050"/>
            <a:ext cx="8747760" cy="466725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ts val="3675"/>
              </a:lnSpc>
            </a:pPr>
            <a:r>
              <a:rPr b="1" sz="3750" spc="-56">
                <a:solidFill>
                  <a:srgbClr val="FFFFFF"/>
                </a:solidFill>
                <a:latin typeface="Montserrat"/>
              </a:rPr>
              <a:t>Contenu &amp; vidéo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57350" y="8763000"/>
            <a:ext cx="8747760" cy="466725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ts val="3675"/>
              </a:lnSpc>
            </a:pPr>
            <a:r>
              <a:rPr b="1" sz="3750" spc="-56">
                <a:solidFill>
                  <a:srgbClr val="FFFFFF"/>
                </a:solidFill>
                <a:latin typeface="Montserrat"/>
              </a:rPr>
              <a:t>Développement web &amp; app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38200" y="11620500"/>
            <a:ext cx="5334000" cy="386655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ts val="3045"/>
              </a:lnSpc>
            </a:pPr>
            <a:r>
              <a:rPr b="1" sz="2100">
                <a:solidFill>
                  <a:srgbClr val="FFFFFF"/>
                </a:solidFill>
                <a:latin typeface="Inter"/>
              </a:rPr>
              <a:t>developtheone.com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266944" y="11620500"/>
            <a:ext cx="4181856" cy="386655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r">
              <a:lnSpc>
                <a:spcPts val="3045"/>
              </a:lnSpc>
            </a:pPr>
            <a:r>
              <a:rPr b="1" sz="2100">
                <a:solidFill>
                  <a:srgbClr val="FFFFFF"/>
                </a:solidFill>
                <a:latin typeface="Inter"/>
              </a:rPr>
              <a:t>@developtheone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 (art)" descr="instagram-posts-03-announcem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0287000" cy="1285875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838200" y="3429000"/>
            <a:ext cx="6400800" cy="24765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b="1" sz="1650" spc="429">
                <a:solidFill>
                  <a:srgbClr val="0F66B6"/>
                </a:solidFill>
                <a:latin typeface="Inter"/>
              </a:rPr>
              <a:t>NOUVEAU · NEW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38200" y="4000500"/>
            <a:ext cx="9601200" cy="29869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ts val="11760"/>
              </a:lnSpc>
            </a:pPr>
            <a:r>
              <a:rPr b="1" sz="12000" spc="-359">
                <a:solidFill>
                  <a:srgbClr val="0A0B0D"/>
                </a:solidFill>
                <a:latin typeface="Montserrat"/>
              </a:rPr>
              <a:t>Grande</a:t>
            </a:r>
          </a:p>
          <a:p>
            <a:pPr algn="l">
              <a:lnSpc>
                <a:spcPts val="11760"/>
              </a:lnSpc>
            </a:pPr>
            <a:r>
              <a:rPr b="1" sz="12000" spc="-359">
                <a:solidFill>
                  <a:srgbClr val="0A0B0D"/>
                </a:solidFill>
                <a:latin typeface="Montserrat"/>
              </a:rPr>
              <a:t>nouvelle.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38200" y="7524750"/>
            <a:ext cx="7467600" cy="939105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ts val="3697"/>
              </a:lnSpc>
            </a:pPr>
            <a:r>
              <a:rPr b="0" sz="2550">
                <a:solidFill>
                  <a:srgbClr val="4A4A55"/>
                </a:solidFill>
                <a:latin typeface="Inter Medium"/>
              </a:rPr>
              <a:t>Écrivez ici votre annonce en une ou deux phrases courtes. Clair, direct, évident.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4244" y="9525000"/>
            <a:ext cx="3387015" cy="714375"/>
          </a:xfrm>
          <a:prstGeom prst="roundRect">
            <a:avLst>
              <a:gd name="adj" fmla="val 50000"/>
            </a:avLst>
          </a:prstGeom>
          <a:noFill/>
          <a:ln w="28575">
            <a:solidFill>
              <a:srgbClr val="0F66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371475" rIns="371475" tIns="0" bIns="0"/>
          <a:lstStyle/>
          <a:p>
            <a:pPr algn="ctr"/>
            <a:r>
              <a:rPr b="1" sz="2250">
                <a:solidFill>
                  <a:srgbClr val="0F66B6"/>
                </a:solidFill>
                <a:latin typeface="Inter"/>
              </a:rPr>
              <a:t>En savoir plus →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 (art)" descr="instagram-posts-04-testimoni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0287000" cy="1285875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266944" y="1028700"/>
            <a:ext cx="4181856" cy="24765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r"/>
            <a:r>
              <a:rPr b="1" sz="1650" spc="429">
                <a:solidFill>
                  <a:srgbClr val="4AA3F0"/>
                </a:solidFill>
                <a:latin typeface="Inter"/>
              </a:rPr>
              <a:t>TÉMOIGNAGE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42950" y="2095500"/>
            <a:ext cx="3200400" cy="28575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ts val="22500"/>
              </a:lnSpc>
            </a:pPr>
            <a:r>
              <a:rPr b="1" sz="22500" spc="-675">
                <a:solidFill>
                  <a:srgbClr val="4AA3F0"/>
                </a:solidFill>
                <a:latin typeface="Montserrat"/>
              </a:rPr>
              <a:t>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38200" y="4476750"/>
            <a:ext cx="9601200" cy="2098476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ts val="5508"/>
              </a:lnSpc>
            </a:pPr>
            <a:r>
              <a:rPr b="1" sz="5100" spc="-102">
                <a:solidFill>
                  <a:srgbClr val="FFFFFF"/>
                </a:solidFill>
                <a:latin typeface="Montserrat"/>
              </a:rPr>
              <a:t>Le témoignage de votre client s’écrit ici, en deux ou trois lignes maximum.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38200" y="10096500"/>
            <a:ext cx="6400800" cy="46955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ts val="3697"/>
              </a:lnSpc>
            </a:pPr>
            <a:r>
              <a:rPr b="1" sz="2550">
                <a:solidFill>
                  <a:srgbClr val="FFFFFF"/>
                </a:solidFill>
                <a:latin typeface="Inter"/>
              </a:rPr>
              <a:t>Nom du client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8200" y="10572750"/>
            <a:ext cx="6400800" cy="358973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ts val="2827"/>
              </a:lnSpc>
            </a:pPr>
            <a:r>
              <a:rPr b="0" sz="1950">
                <a:solidFill>
                  <a:srgbClr val="FFFFFF"/>
                </a:solidFill>
                <a:latin typeface="Inter Medium"/>
              </a:rPr>
              <a:t>Fonction · Entreprise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 (art)" descr="instagram-posts-05-resul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0287000" cy="1285875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266944" y="1009650"/>
            <a:ext cx="4181856" cy="24765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r"/>
            <a:r>
              <a:rPr b="1" sz="1650" spc="429">
                <a:solidFill>
                  <a:srgbClr val="4AA3F0"/>
                </a:solidFill>
                <a:latin typeface="Inter"/>
              </a:rPr>
              <a:t>CASE STUDY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62000" y="2857500"/>
            <a:ext cx="9601200" cy="410706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ts val="32339"/>
              </a:lnSpc>
            </a:pPr>
            <a:r>
              <a:rPr b="1" sz="33000" spc="-1650">
                <a:solidFill>
                  <a:srgbClr val="4AA3F0"/>
                </a:solidFill>
                <a:latin typeface="Montserrat"/>
              </a:rPr>
              <a:t>×3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38200" y="7620000"/>
            <a:ext cx="8534400" cy="1279921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ts val="5040"/>
              </a:lnSpc>
            </a:pPr>
            <a:r>
              <a:rPr b="1" sz="4800" spc="-96">
                <a:solidFill>
                  <a:srgbClr val="FFFFFF"/>
                </a:solidFill>
                <a:latin typeface="Montserrat"/>
              </a:rPr>
              <a:t>Visibilité de la marque en 6 mois.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38200" y="10763250"/>
            <a:ext cx="5334000" cy="386655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ts val="3045"/>
              </a:lnSpc>
            </a:pPr>
            <a:r>
              <a:rPr b="1" sz="2100">
                <a:solidFill>
                  <a:srgbClr val="FFFFFF"/>
                </a:solidFill>
                <a:latin typeface="Inter"/>
              </a:rPr>
              <a:t>Client · Secteur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266944" y="10820400"/>
            <a:ext cx="4181856" cy="200025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r"/>
            <a:r>
              <a:rPr b="1" sz="1350" spc="351">
                <a:solidFill>
                  <a:srgbClr val="FFFFFF"/>
                </a:solidFill>
                <a:latin typeface="Inter"/>
              </a:rPr>
              <a:t>CHIFFRE EXEMPLE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 (art)" descr="instagram-posts-06-hirin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0287000" cy="1285875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838200" y="3238500"/>
            <a:ext cx="10241280" cy="1325463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ts val="10437"/>
              </a:lnSpc>
            </a:pPr>
            <a:r>
              <a:rPr b="1" sz="10650" spc="-319">
                <a:solidFill>
                  <a:srgbClr val="0A0B0D"/>
                </a:solidFill>
                <a:latin typeface="Montserrat"/>
              </a:rPr>
              <a:t>On recrute.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38200" y="5334000"/>
            <a:ext cx="9601200" cy="56004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ts val="4409"/>
              </a:lnSpc>
            </a:pPr>
            <a:r>
              <a:rPr b="1" sz="4500" spc="-89">
                <a:solidFill>
                  <a:srgbClr val="0F66B6"/>
                </a:solidFill>
                <a:latin typeface="Montserrat"/>
              </a:rPr>
              <a:t>Social Media Manager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38200" y="6667500"/>
            <a:ext cx="8534400" cy="174843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ts val="4590"/>
              </a:lnSpc>
            </a:pPr>
            <a:r>
              <a:rPr b="0" sz="2700">
                <a:solidFill>
                  <a:srgbClr val="0A0B0D"/>
                </a:solidFill>
                <a:latin typeface="Inter Medium"/>
              </a:rPr>
              <a:t>· 2 ans d’expérience minimum</a:t>
            </a:r>
          </a:p>
          <a:p>
            <a:pPr algn="l">
              <a:lnSpc>
                <a:spcPts val="4590"/>
              </a:lnSpc>
            </a:pPr>
            <a:r>
              <a:rPr b="0" sz="2700">
                <a:solidFill>
                  <a:srgbClr val="0A0B0D"/>
                </a:solidFill>
                <a:latin typeface="Inter Medium"/>
              </a:rPr>
              <a:t>· Créatif, organisé, curieux</a:t>
            </a:r>
          </a:p>
          <a:p>
            <a:pPr algn="l">
              <a:lnSpc>
                <a:spcPts val="4590"/>
              </a:lnSpc>
            </a:pPr>
            <a:r>
              <a:rPr b="0" sz="2700">
                <a:solidFill>
                  <a:srgbClr val="0A0B0D"/>
                </a:solidFill>
                <a:latin typeface="Inter Medium"/>
              </a:rPr>
              <a:t>· Basé à Algérie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18584" y="10953750"/>
            <a:ext cx="7031548" cy="763785"/>
          </a:xfrm>
          <a:prstGeom prst="roundRect">
            <a:avLst>
              <a:gd name="adj" fmla="val 50000"/>
            </a:avLst>
          </a:prstGeom>
          <a:noFill/>
          <a:ln w="28575">
            <a:solidFill>
              <a:srgbClr val="0A0B0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396240" rIns="396240" tIns="0" bIns="0"/>
          <a:lstStyle/>
          <a:p>
            <a:pPr algn="ctr"/>
            <a:r>
              <a:rPr b="1" sz="2400">
                <a:solidFill>
                  <a:srgbClr val="0A0B0D"/>
                </a:solidFill>
                <a:latin typeface="Inter"/>
              </a:rPr>
              <a:t>Postulez : hello@developtheone.com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 (art)" descr="instagram-posts-07-ev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0287000" cy="1285875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838200" y="3810000"/>
            <a:ext cx="2453640" cy="896094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>
              <a:lnSpc>
                <a:spcPts val="7056"/>
              </a:lnSpc>
            </a:pPr>
            <a:r>
              <a:rPr b="1" sz="7200" spc="-216">
                <a:solidFill>
                  <a:srgbClr val="0A0B0D"/>
                </a:solidFill>
                <a:latin typeface="Montserrat"/>
              </a:rPr>
              <a:t>00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38200" y="4762500"/>
            <a:ext cx="2453640" cy="24765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/>
            <a:r>
              <a:rPr b="1" sz="1650" spc="429">
                <a:solidFill>
                  <a:srgbClr val="0A0B0D"/>
                </a:solidFill>
                <a:latin typeface="Inter"/>
              </a:rPr>
              <a:t>MOIS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38200" y="6096000"/>
            <a:ext cx="6400800" cy="276225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b="1" sz="1800" spc="468">
                <a:solidFill>
                  <a:srgbClr val="4AA3F0"/>
                </a:solidFill>
                <a:latin typeface="Inter"/>
              </a:rPr>
              <a:t>WORKSHOP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38200" y="6572250"/>
            <a:ext cx="9601200" cy="2448073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ts val="6426"/>
              </a:lnSpc>
            </a:pPr>
            <a:r>
              <a:rPr b="1" sz="6300" spc="-157">
                <a:solidFill>
                  <a:srgbClr val="FFFFFF"/>
                </a:solidFill>
                <a:latin typeface="Montserrat"/>
              </a:rPr>
              <a:t>Marketing digital : les bases qui font vendre.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8200" y="9810750"/>
            <a:ext cx="9601200" cy="975121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ts val="3840"/>
              </a:lnSpc>
            </a:pPr>
            <a:r>
              <a:rPr b="0" sz="2400">
                <a:solidFill>
                  <a:srgbClr val="FFFFFF"/>
                </a:solidFill>
                <a:latin typeface="Inter Medium"/>
              </a:rPr>
              <a:t>18:00 · Lieu de l’événement, Algérie</a:t>
            </a:r>
          </a:p>
          <a:p>
            <a:pPr algn="l">
              <a:lnSpc>
                <a:spcPts val="3840"/>
              </a:lnSpc>
            </a:pPr>
            <a:r>
              <a:rPr b="0" sz="2400">
                <a:solidFill>
                  <a:srgbClr val="FFFFFF"/>
                </a:solidFill>
                <a:latin typeface="Inter Medium"/>
              </a:rPr>
              <a:t>Places limitées — inscription en bio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 (art)" descr="instagram-posts-08-darij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0287000" cy="1285875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42950" y="2857500"/>
            <a:ext cx="3200400" cy="28575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ts val="22500"/>
              </a:lnSpc>
            </a:pPr>
            <a:r>
              <a:rPr b="0" sz="22500">
                <a:solidFill>
                  <a:srgbClr val="4AA3F0"/>
                </a:solidFill>
                <a:latin typeface="Inter"/>
              </a:rPr>
              <a:t>{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409700" y="5334000"/>
            <a:ext cx="9643872" cy="230505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ts val="9075"/>
              </a:lnSpc>
            </a:pPr>
            <a:r>
              <a:rPr b="1" sz="8250">
                <a:solidFill>
                  <a:srgbClr val="FFFFFF"/>
                </a:solidFill>
                <a:latin typeface="Inter"/>
              </a:rPr>
              <a:t>develop:</a:t>
            </a:r>
          </a:p>
          <a:p>
            <a:pPr algn="l">
              <a:lnSpc>
                <a:spcPts val="9075"/>
              </a:lnSpc>
            </a:pPr>
            <a:r>
              <a:rPr b="1" sz="8250">
                <a:solidFill>
                  <a:srgbClr val="FFFFFF"/>
                </a:solidFill>
                <a:latin typeface="Inter"/>
              </a:rPr>
              <a:t>"the one"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2950" y="7810500"/>
            <a:ext cx="3200400" cy="28575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ts val="22500"/>
              </a:lnSpc>
            </a:pPr>
            <a:r>
              <a:rPr b="0" sz="22500">
                <a:solidFill>
                  <a:srgbClr val="4AA3F0"/>
                </a:solidFill>
                <a:latin typeface="Inter"/>
              </a:rPr>
              <a:t>}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38200" y="10572750"/>
            <a:ext cx="9643872" cy="46955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ts val="3697"/>
              </a:lnSpc>
            </a:pPr>
            <a:r>
              <a:rPr b="0" sz="2550">
                <a:solidFill>
                  <a:srgbClr val="FFFFFF"/>
                </a:solidFill>
                <a:latin typeface="Inter Medium"/>
              </a:rPr>
              <a:t>Nous développons la marque n°1 — ligne par ligne.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8200" y="11715750"/>
            <a:ext cx="5334000" cy="276225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b="1" sz="1800" spc="468">
                <a:solidFill>
                  <a:srgbClr val="FFFFFF"/>
                </a:solidFill>
                <a:latin typeface="Inter"/>
              </a:rPr>
              <a:t>@DEVELOPTHEONE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 (art)" descr="instagram-posts-09-greetin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0287000" cy="1285875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333500" y="4000500"/>
            <a:ext cx="8534400" cy="17145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 rtl="1">
              <a:lnSpc>
                <a:spcPts val="13500"/>
              </a:lnSpc>
            </a:pPr>
            <a:r>
              <a:rPr b="1" sz="11250">
                <a:solidFill>
                  <a:srgbClr val="4AA3F0"/>
                </a:solidFill>
                <a:latin typeface="Cairo"/>
                <a:cs typeface="Cairo"/>
              </a:rPr>
              <a:t>عيد مبارك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33500" y="6477000"/>
            <a:ext cx="8534400" cy="709314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>
              <a:lnSpc>
                <a:spcPts val="5586"/>
              </a:lnSpc>
            </a:pPr>
            <a:r>
              <a:rPr b="1" sz="5700" spc="-114">
                <a:solidFill>
                  <a:srgbClr val="FFFFFF"/>
                </a:solidFill>
                <a:latin typeface="Montserrat"/>
              </a:rPr>
              <a:t>Aïd Moubarek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095500" y="7620000"/>
            <a:ext cx="6827520" cy="828675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>
              <a:lnSpc>
                <a:spcPts val="3262"/>
              </a:lnSpc>
            </a:pPr>
            <a:r>
              <a:rPr b="0" sz="2250">
                <a:solidFill>
                  <a:srgbClr val="FFFFFF"/>
                </a:solidFill>
                <a:latin typeface="Inter Medium"/>
              </a:rPr>
              <a:t>Toute l’équipe DevelopTheOne vous souhaite une belle fête.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 (art)" descr="instagram-posts-10-portfoli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0287000" cy="1285875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838200" y="8953500"/>
            <a:ext cx="9601200" cy="784026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ts val="6173"/>
              </a:lnSpc>
            </a:pPr>
            <a:r>
              <a:rPr b="1" sz="6300" spc="-157">
                <a:solidFill>
                  <a:srgbClr val="FFFFFF"/>
                </a:solidFill>
                <a:latin typeface="Montserrat"/>
              </a:rPr>
              <a:t>Nom du projet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38200" y="10001250"/>
            <a:ext cx="9601200" cy="414337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ts val="3262"/>
              </a:lnSpc>
            </a:pPr>
            <a:r>
              <a:rPr b="1" sz="2250">
                <a:solidFill>
                  <a:srgbClr val="4AA3F0"/>
                </a:solidFill>
                <a:latin typeface="Inter"/>
              </a:rPr>
              <a:t>Identité visuelle · Social media · Vidéo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38200" y="11772900"/>
            <a:ext cx="4267200" cy="2286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b="1" sz="1500" spc="390">
                <a:solidFill>
                  <a:srgbClr val="FFFFFF"/>
                </a:solidFill>
                <a:latin typeface="Inter"/>
              </a:rPr>
              <a:t>PROJET 2026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